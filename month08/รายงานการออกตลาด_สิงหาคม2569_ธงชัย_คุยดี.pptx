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497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6675120"/>
            <a:ext cx="7772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รายงานการออกตลาด • สิงหาคม 2569 • ธงชัย คุยดี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2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159"/>
          </a:solidFill>
          <a:ln w="12700">
            <a:solidFill>
              <a:srgbClr val="0B3159"/>
            </a:solidFill>
            <a:prstDash val="solid"/>
          </a:ln>
        </p:spPr>
        <p:txBody>
          <a:bodyPr/>
          <a:lstStyle/>
          <a:p>
            <a:endParaRPr lang="th-TH" dirty="0"/>
          </a:p>
        </p:txBody>
      </p:sp>
      <p:sp>
        <p:nvSpPr>
          <p:cNvPr id="3" name="Shape 1"/>
          <p:cNvSpPr/>
          <p:nvPr/>
        </p:nvSpPr>
        <p:spPr>
          <a:xfrm>
            <a:off x="685800" y="1051560"/>
            <a:ext cx="164592" cy="39776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1097280" y="11887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รายงานการออกตลาด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199339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CFE6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ประจำเดือน สิงหาคม 2569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97280" y="2852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EAF3FB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สรุปการเข้าพบลูกค้าใหม่ • โอกาสทางการขาย • ประเด็นคู่แข่ง • แนวทางติดตามผล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97280" y="3913632"/>
            <a:ext cx="3977640" cy="1097280"/>
          </a:xfrm>
          <a:prstGeom prst="roundRect">
            <a:avLst>
              <a:gd name="adj" fmla="val 5000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8348472" y="822960"/>
            <a:ext cx="30723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1" name="Image 0" descr="/mnt/data/market_imgs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841248"/>
            <a:ext cx="3035808" cy="15361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348472" y="2560320"/>
            <a:ext cx="30723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3" name="Image 1" descr="/mnt/data/market_imgs/image1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578608"/>
            <a:ext cx="3035808" cy="15361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348472" y="4297680"/>
            <a:ext cx="3072384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15" name="Image 2" descr="/mnt/data/market_imgs/image22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4315968"/>
            <a:ext cx="3035808" cy="15361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5989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6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บริษัท พัฒนาสิน ไทยเทรดดิ้ง จำกัด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ภาพรวมการออกตลาดประจำเดือน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สรุปจากรายงานลูกค้าใหม่ สิงหาคม 2569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73152" cy="1170432"/>
          </a:xfrm>
          <a:prstGeom prst="rect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795528" y="140817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8 ร้านค้า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95528" y="182880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ลูกค้าใหม่ที่เข้าพบ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210312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ทุกแห่งมีความสนใจและเปิดช่องทางติดตาม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3310128" y="1298448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 9"/>
          <p:cNvSpPr/>
          <p:nvPr/>
        </p:nvSpPr>
        <p:spPr>
          <a:xfrm>
            <a:off x="3310128" y="1298448"/>
            <a:ext cx="73152" cy="117043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3511296" y="140817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28C2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 วัน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11296" y="182880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วันออกตลาด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1296" y="210312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11, 15 และ 22 สิงหาคม 2569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025896" y="1298448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 14"/>
          <p:cNvSpPr/>
          <p:nvPr/>
        </p:nvSpPr>
        <p:spPr>
          <a:xfrm>
            <a:off x="6025896" y="1298448"/>
            <a:ext cx="73152" cy="1170432"/>
          </a:xfrm>
          <a:prstGeom prst="rect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6227064" y="140817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 อำเภอ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27064" y="182880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พื้นที่หลัก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27064" y="210312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สว่างแดนดิน • กู่แก้ว • ศรีธาตุ • วังสามหมอ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741664" y="1298448"/>
            <a:ext cx="25603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 19"/>
          <p:cNvSpPr/>
          <p:nvPr/>
        </p:nvSpPr>
        <p:spPr>
          <a:xfrm>
            <a:off x="8741664" y="1298448"/>
            <a:ext cx="73152" cy="1170432"/>
          </a:xfrm>
          <a:prstGeom prst="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8942832" y="140817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 ร้าน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42832" y="1828800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ยอดสั่งซื้อ ณ วันที่รายงาน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42832" y="2103120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ต้องเร่งติดตามต่อ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94360" y="2880360"/>
            <a:ext cx="6903720" cy="3136392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6" name="Text 24"/>
          <p:cNvSpPr/>
          <p:nvPr/>
        </p:nvSpPr>
        <p:spPr>
          <a:xfrm>
            <a:off x="86868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กิจกรรมที่ดำเนินการกับลูกค้า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8680" y="3639312"/>
            <a:ext cx="320040" cy="320040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8" name="Text 26"/>
          <p:cNvSpPr/>
          <p:nvPr/>
        </p:nvSpPr>
        <p:spPr>
          <a:xfrm>
            <a:off x="868680" y="3666744"/>
            <a:ext cx="320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335024" y="3630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แนะนำราคาท่อ PVC และอุปกรณ์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3913632" y="36393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เปรียบเทียบทางเลือกและสร้างการรับรู้สินค้า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68680" y="4169664"/>
            <a:ext cx="320040" cy="3200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868680" y="4197096"/>
            <a:ext cx="320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335024" y="41605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นำเสนอสินค้าใหม่และโปรโมชั่น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3913632" y="41696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ใช้เป็นเหตุผลในการติดต่อซ้ำทุกเดือน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68680" y="4700016"/>
            <a:ext cx="320040" cy="320040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6" name="Text 34"/>
          <p:cNvSpPr/>
          <p:nvPr/>
        </p:nvSpPr>
        <p:spPr>
          <a:xfrm>
            <a:off x="868680" y="4727448"/>
            <a:ext cx="320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335024" y="46908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สำหรับติดตาม</a:t>
            </a:r>
            <a:endParaRPr lang="en-US" sz="1170" dirty="0"/>
          </a:p>
        </p:txBody>
      </p:sp>
      <p:sp>
        <p:nvSpPr>
          <p:cNvPr id="38" name="Text 36"/>
          <p:cNvSpPr/>
          <p:nvPr/>
        </p:nvSpPr>
        <p:spPr>
          <a:xfrm>
            <a:off x="3913632" y="47000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เปิดช่องทางส่งราคา โปรโมชั่น และปิดการขาย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68680" y="5230368"/>
            <a:ext cx="320040" cy="3200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0" name="Text 38"/>
          <p:cNvSpPr/>
          <p:nvPr/>
        </p:nvSpPr>
        <p:spPr>
          <a:xfrm>
            <a:off x="868680" y="5257800"/>
            <a:ext cx="320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335024" y="5221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สื่อสารบริการจัดส่งฟรี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3913632" y="52303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ลดข้อกังวลเรื่องการขนส่งและเพิ่มความสะดวก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726680" y="2880360"/>
            <a:ext cx="3566160" cy="3136392"/>
          </a:xfrm>
          <a:prstGeom prst="roundRect">
            <a:avLst>
              <a:gd name="adj" fmla="val 2041"/>
            </a:avLst>
          </a:prstGeom>
          <a:solidFill>
            <a:srgbClr val="F2F6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4" name="Text 42"/>
          <p:cNvSpPr/>
          <p:nvPr/>
        </p:nvSpPr>
        <p:spPr>
          <a:xfrm>
            <a:off x="8001000" y="31363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ข้อสังเกตสำคัญ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001000" y="3611880"/>
            <a:ext cx="283464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คู่แข่งเดิมของลูกค้ามีความสัมพันธ์อยู่แล้ว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ลูกค้าส่วนใหญ่ยัง “สนใจ” แต่ยังไม่ทดลองสั่ง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จุดเปลี่ยนสำคัญคือการ Follow-up ผ่าน LINE + ราคา/โปรที่ชัดเจน</a:t>
            </a:r>
            <a:endParaRPr lang="en-US" sz="1110" dirty="0"/>
          </a:p>
          <a:p>
            <a:pPr marL="0" indent="0">
              <a:buNone/>
            </a:pPr>
            <a:r>
              <a:rPr lang="en-US" sz="111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ควรกำหนดเป้าหมาย “ทดลองสั่งครั้งแรก” รายร้าน</a:t>
            </a:r>
            <a:endParaRPr lang="en-US" sz="1110" dirty="0"/>
          </a:p>
        </p:txBody>
      </p:sp>
      <p:sp>
        <p:nvSpPr>
          <p:cNvPr id="46" name="Shape 44"/>
          <p:cNvSpPr/>
          <p:nvPr/>
        </p:nvSpPr>
        <p:spPr>
          <a:xfrm>
            <a:off x="8001000" y="5468112"/>
            <a:ext cx="2743200" cy="347472"/>
          </a:xfrm>
          <a:prstGeom prst="roundRect">
            <a:avLst>
              <a:gd name="adj" fmla="val 10526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5"/>
          <p:cNvSpPr/>
          <p:nvPr/>
        </p:nvSpPr>
        <p:spPr>
          <a:xfrm>
            <a:off x="8119872" y="5559552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28C2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เป้าหมายถัดไป: ปิดการขายทดลอง</a:t>
            </a:r>
            <a:endParaRPr lang="en-US" sz="104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เส้นทางและลำดับการออกตลาด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แบ่งตามวันที่เข้าพบและพื้นที่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463040" y="3017520"/>
            <a:ext cx="9235440" cy="0"/>
          </a:xfrm>
          <a:prstGeom prst="line">
            <a:avLst/>
          </a:prstGeom>
          <a:noFill/>
          <a:ln w="25400">
            <a:solidFill>
              <a:srgbClr val="C8D3DE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2057400" y="2724912"/>
            <a:ext cx="566928" cy="566928"/>
          </a:xfrm>
          <a:prstGeom prst="ellipse">
            <a:avLst/>
          </a:prstGeom>
          <a:solidFill>
            <a:srgbClr val="0E4E8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2057400" y="28346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9" name="Text 7"/>
          <p:cNvSpPr/>
          <p:nvPr/>
        </p:nvSpPr>
        <p:spPr>
          <a:xfrm>
            <a:off x="960120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11 ส.ค. 2569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อ.สว่างแดนดิน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2971800" y="1444752"/>
            <a:ext cx="685800" cy="420624"/>
          </a:xfrm>
          <a:prstGeom prst="roundRect">
            <a:avLst>
              <a:gd name="adj" fmla="val 8696"/>
            </a:avLst>
          </a:prstGeom>
          <a:solidFill>
            <a:srgbClr val="0E4E8C">
              <a:alpha val="95000"/>
            </a:srgbClr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3008376" y="154533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 ร้าน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493008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9FBFD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Text 12"/>
          <p:cNvSpPr/>
          <p:nvPr/>
        </p:nvSpPr>
        <p:spPr>
          <a:xfrm>
            <a:off x="960120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ร้านค้าที่เข้าพบ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0965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อาคมการเกษตร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ส.พาณิชย์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พลเจริญทรัพย์ก่อสร้าง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43016" y="2724912"/>
            <a:ext cx="566928" cy="566928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7" name="Text 15"/>
          <p:cNvSpPr/>
          <p:nvPr/>
        </p:nvSpPr>
        <p:spPr>
          <a:xfrm>
            <a:off x="5843016" y="28346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17136" y="12344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9" name="Text 17"/>
          <p:cNvSpPr/>
          <p:nvPr/>
        </p:nvSpPr>
        <p:spPr>
          <a:xfrm>
            <a:off x="4745736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8C2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15 ส.ค. 2569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45736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อ.กู่แก้ว + อ.ศรีธาตุ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6757416" y="1444752"/>
            <a:ext cx="685800" cy="420624"/>
          </a:xfrm>
          <a:prstGeom prst="roundRect">
            <a:avLst>
              <a:gd name="adj" fmla="val 8696"/>
            </a:avLst>
          </a:prstGeom>
          <a:solidFill>
            <a:srgbClr val="F28C28">
              <a:alpha val="95000"/>
            </a:srgbClr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6793992" y="154533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 ร้าน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17136" y="3493008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9FBFD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4" name="Text 22"/>
          <p:cNvSpPr/>
          <p:nvPr/>
        </p:nvSpPr>
        <p:spPr>
          <a:xfrm>
            <a:off x="4745736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ร้านค้าที่เข้าพบ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45736" y="40965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ทุ่งรื่นวัสดุ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เล้าเจริญชัย คลังเกษตร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ศรีธาตุก่อสร้าง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628632" y="2724912"/>
            <a:ext cx="566928" cy="566928"/>
          </a:xfrm>
          <a:prstGeom prst="ellipse">
            <a:avLst/>
          </a:prstGeom>
          <a:solidFill>
            <a:srgbClr val="2A9D6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7" name="Text 25"/>
          <p:cNvSpPr/>
          <p:nvPr/>
        </p:nvSpPr>
        <p:spPr>
          <a:xfrm>
            <a:off x="9628632" y="28346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02752" y="1234440"/>
            <a:ext cx="32461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8531352" y="1481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22 ส.ค. 2569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31352" y="1828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อ.วังสามหมอ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10543032" y="1444752"/>
            <a:ext cx="685800" cy="420624"/>
          </a:xfrm>
          <a:prstGeom prst="roundRect">
            <a:avLst>
              <a:gd name="adj" fmla="val 8696"/>
            </a:avLst>
          </a:prstGeom>
          <a:solidFill>
            <a:srgbClr val="2A9D65">
              <a:alpha val="95000"/>
            </a:srgbClr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2" name="Text 30"/>
          <p:cNvSpPr/>
          <p:nvPr/>
        </p:nvSpPr>
        <p:spPr>
          <a:xfrm>
            <a:off x="10579608" y="1545336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 ร้าน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02752" y="3493008"/>
            <a:ext cx="3246120" cy="2057400"/>
          </a:xfrm>
          <a:prstGeom prst="roundRect">
            <a:avLst>
              <a:gd name="adj" fmla="val 2667"/>
            </a:avLst>
          </a:prstGeom>
          <a:solidFill>
            <a:srgbClr val="F9FBFD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34" name="Text 32"/>
          <p:cNvSpPr/>
          <p:nvPr/>
        </p:nvSpPr>
        <p:spPr>
          <a:xfrm>
            <a:off x="8531352" y="37307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ร้านค้าที่เข้าพบ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31352" y="4096512"/>
            <a:ext cx="2743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โชคอนันต์วัสดุ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ผาทอง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749040" y="58978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รวม 8 ร้านค้าใหม่ ครอบคลุม 4 อำเภอ</a:t>
            </a:r>
            <a:endParaRPr lang="en-US" sz="14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 อาคมการเกษตร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อ.สว่างแดนดิน • เข้าพบ 11/08/69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095-1984666, 093-323574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17°24'03.1"N 103°19'56.3"E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และอุปกรณ์จากร้านใน จ.สกลนคร และร้านกิมเซ้ง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77977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743200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321040" y="1645920"/>
            <a:ext cx="332841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664208"/>
            <a:ext cx="3291840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794760"/>
            <a:ext cx="622706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13048"/>
            <a:ext cx="6190488" cy="21031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2. ส.พาณิชย์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อ.สว่างแดนดิน • เข้าพบ 11/08/69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063-7465556, 092-4477075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17°24'09.6"N 103°19'50.8"E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และอุปกรณ์จากร้านใน จ.สกลนคร และร้านกิมเซ้ง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77977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743200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321040" y="1645920"/>
            <a:ext cx="332841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664208"/>
            <a:ext cx="3291840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794760"/>
            <a:ext cx="622706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13048"/>
            <a:ext cx="6190488" cy="21031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 พลเจริญทรัพย์ก่อสร้าง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อ.สว่างแดนดิน • เข้าพบ 11/08/69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086-2200911, 090-3995893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17°24'20.3"N 103°18'08.1"E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และอุปกรณ์จากร้านใน จ.สกลนคร และร้านกิมเซ้ง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029968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1993392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552944" y="1645920"/>
            <a:ext cx="2029968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664208"/>
            <a:ext cx="1993392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9683496" y="1645920"/>
            <a:ext cx="1965960" cy="2002536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9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1664208"/>
            <a:ext cx="1929384" cy="1965960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5422392" y="3794760"/>
            <a:ext cx="306324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5" name="Image 3" descr="/mnt/data/market_imgs/image1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3813048"/>
            <a:ext cx="3026664" cy="2084832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8586216" y="3794760"/>
            <a:ext cx="3063240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7" name="Image 4" descr="/mnt/data/market_imgs/image11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504" y="3813048"/>
            <a:ext cx="3026664" cy="2084832"/>
          </a:xfrm>
          <a:prstGeom prst="rect">
            <a:avLst/>
          </a:prstGeom>
        </p:spPr>
      </p:pic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4. ทุ่งรื่นวัสดุ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อ.กู่แก้ว • เข้าพบ 15/08/69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098-2227663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17°11'20.9"N 103°06'38.5"E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และอุปกรณ์กับร้านบุญมงคล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77977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743200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321040" y="1645920"/>
            <a:ext cx="332841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1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664208"/>
            <a:ext cx="3291840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794760"/>
            <a:ext cx="622706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1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13048"/>
            <a:ext cx="6190488" cy="21031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5. เล้าเจริญชัย คลังเกษตร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อ.ศรีธาตุ • เข้าพบ 15/08/69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086-8556777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17°04'43.5"N 103°15'00.9"E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ช่วงเข้าพบร้านมีลูกค้าหน้าร้านจำนวนมาก จึงยังคุยรายละเอียดได้ไม่เต็มที่ และขอ LINE ไว้ติดตาม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3008376" cy="202996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971800" cy="199339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567928" y="1645920"/>
            <a:ext cx="3081528" cy="202996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1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1664208"/>
            <a:ext cx="3044952" cy="199339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803904"/>
            <a:ext cx="3008376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17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22192"/>
            <a:ext cx="2971800" cy="208483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567928" y="3803904"/>
            <a:ext cx="3081528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5" name="Image 3" descr="/mnt/data/market_imgs/image18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3822192"/>
            <a:ext cx="3044952" cy="2084832"/>
          </a:xfrm>
          <a:prstGeom prst="rect">
            <a:avLst/>
          </a:prstGeom>
        </p:spPr>
      </p:pic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6. ศรีธาตุก่อสร้าง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อ.ศรีธาตุ • เข้าพบ 15/08/69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ไม่ได้ระบุในรายงาน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16°58'26.6"N 103°13'30.5"E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และอุปกรณ์กับร้านกิมเซ้ง และร้าน พ.พุทสิริณ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77977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1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743200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321040" y="1645920"/>
            <a:ext cx="332841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2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664208"/>
            <a:ext cx="3291840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794760"/>
            <a:ext cx="622706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2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13048"/>
            <a:ext cx="6190488" cy="21031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7. โชคอนันต์วัสดุ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อ.วังสามหมอ • เข้าพบ 22/08/69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061-0298017, 081-7699218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17°07'31.4"N 103°32'16.4"E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และอุปกรณ์กับร้านแสงอุทัย จ.อุดรธานี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3008376" cy="202996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2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971800" cy="199339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567928" y="1645920"/>
            <a:ext cx="3081528" cy="2029968"/>
          </a:xfrm>
          <a:prstGeom prst="roundRect">
            <a:avLst>
              <a:gd name="adj" fmla="val 180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2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216" y="1664208"/>
            <a:ext cx="3044952" cy="199339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803904"/>
            <a:ext cx="3008376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24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22192"/>
            <a:ext cx="2971800" cy="2084832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8567928" y="3803904"/>
            <a:ext cx="3081528" cy="2121408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5" name="Image 3" descr="/mnt/data/market_imgs/image2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3822192"/>
            <a:ext cx="3044952" cy="2084832"/>
          </a:xfrm>
          <a:prstGeom prst="rect">
            <a:avLst/>
          </a:prstGeom>
        </p:spPr>
      </p:pic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8. ผาทอง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อ.วังสามหมอ • เข้าพบ 22/08/69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4617720" cy="50749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ข้อมูลการเข้าพบ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9808" y="1819656"/>
            <a:ext cx="256032" cy="256032"/>
          </a:xfrm>
          <a:prstGeom prst="ellipse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8" name="Text 6"/>
          <p:cNvSpPr/>
          <p:nvPr/>
        </p:nvSpPr>
        <p:spPr>
          <a:xfrm>
            <a:off x="749808" y="1815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ติดต่อ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2084832" y="1810512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085-6457496, 081-7096376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749808" y="2167128"/>
            <a:ext cx="256032" cy="256032"/>
          </a:xfrm>
          <a:prstGeom prst="ellipse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2" name="Text 10"/>
          <p:cNvSpPr/>
          <p:nvPr/>
        </p:nvSpPr>
        <p:spPr>
          <a:xfrm>
            <a:off x="749808" y="21625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215798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พิกัด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2084832" y="2157984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17°07'36.7"N 103°32'18.4"E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749808" y="2514600"/>
            <a:ext cx="256032" cy="25603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6" name="Text 14"/>
          <p:cNvSpPr/>
          <p:nvPr/>
        </p:nvSpPr>
        <p:spPr>
          <a:xfrm>
            <a:off x="749808" y="25100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97280" y="250545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b="1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ช่องทางต่อ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084832" y="2505456"/>
            <a:ext cx="2734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 ID LINE ไว้ติดตาม / ส่งราคาและโปรโมชั่น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49808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สิ่งที่นำเสนอ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3310128"/>
            <a:ext cx="3886200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ราคาท่อ PVC และอุปกรณ์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สินค้าใหม่และโปรโมชั่นประจำเดือน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• บริการจัดส่งฟรี พร้อมแจ้งระยะเวลา 1–3 วัน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517136"/>
            <a:ext cx="4069080" cy="713232"/>
          </a:xfrm>
          <a:prstGeom prst="roundRect">
            <a:avLst>
              <a:gd name="adj" fmla="val 6410"/>
            </a:avLst>
          </a:prstGeom>
          <a:solidFill>
            <a:srgbClr val="FFF3E6"/>
          </a:solidFill>
          <a:ln w="12700">
            <a:solidFill>
              <a:srgbClr val="F2C99F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D9534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ประเด็น/คู่แข่งที่พบ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14400" y="48828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ลูกค้าซื้อท่อ PVC และอุปกรณ์กับร้านในพื้นที่เมืองเลย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49808" y="5385816"/>
            <a:ext cx="4069080" cy="594360"/>
          </a:xfrm>
          <a:prstGeom prst="roundRect">
            <a:avLst>
              <a:gd name="adj" fmla="val 7692"/>
            </a:avLst>
          </a:prstGeom>
          <a:solidFill>
            <a:srgbClr val="EAF7F0"/>
          </a:solidFill>
          <a:ln w="12700">
            <a:solidFill>
              <a:srgbClr val="B9DFC9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สถานะ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72768" y="551383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ยังไม่มีคำสั่งซื้อ แต่ร้านมีความสนใจสินค้า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5440680" y="13167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ภาพหน้างาน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22392" y="1645920"/>
            <a:ext cx="277977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29" name="Image 0" descr="/mnt/data/market_imgs/image2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64208"/>
            <a:ext cx="2743200" cy="19659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321040" y="1645920"/>
            <a:ext cx="3328416" cy="2002536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1" name="Image 1" descr="/mnt/data/market_imgs/image27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1664208"/>
            <a:ext cx="3291840" cy="196596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5422392" y="3794760"/>
            <a:ext cx="6227064" cy="2139696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pic>
        <p:nvPicPr>
          <p:cNvPr id="33" name="Image 2" descr="/mnt/data/market_imgs/image2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813048"/>
            <a:ext cx="6190488" cy="2103120"/>
          </a:xfrm>
          <a:prstGeom prst="rect">
            <a:avLst/>
          </a:prstGeom>
        </p:spPr>
      </p:pic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สรุปผลและแนวทางติดตามเดือนถัดไป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051560" cy="5486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4" name="Text 2"/>
          <p:cNvSpPr/>
          <p:nvPr/>
        </p:nvSpPr>
        <p:spPr>
          <a:xfrm>
            <a:off x="8823960" y="420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เปลี่ยน “สนใจ” ให้เป็น “ทดลองสั่ง”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154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3154680" cy="100584"/>
          </a:xfrm>
          <a:prstGeom prst="rect">
            <a:avLst/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1. Follow-up ภายใน 7 วัน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2697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ส่งราคาท่อ PVC / อุปกรณ์ที่ตรงกับสินค้าที่ร้านขายจริง พร้อมโปรโมชั่นที่ตัดสินใจง่าย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069080" y="1325880"/>
            <a:ext cx="3154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 8"/>
          <p:cNvSpPr/>
          <p:nvPr/>
        </p:nvSpPr>
        <p:spPr>
          <a:xfrm>
            <a:off x="4069080" y="1325880"/>
            <a:ext cx="3154680" cy="100584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1" name="Text 9"/>
          <p:cNvSpPr/>
          <p:nvPr/>
        </p:nvSpPr>
        <p:spPr>
          <a:xfrm>
            <a:off x="429768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2. เสนอ First Order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212848"/>
            <a:ext cx="2697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กำหนดชุดทดลองสั่งจำนวนไม่มาก หรือ SKU ที่หมุนเร็ว เพื่อให้ลูกค้าลองบริการและการจัดส่ง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543800" y="1325880"/>
            <a:ext cx="315468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 12"/>
          <p:cNvSpPr/>
          <p:nvPr/>
        </p:nvSpPr>
        <p:spPr>
          <a:xfrm>
            <a:off x="7543800" y="1325880"/>
            <a:ext cx="3154680" cy="100584"/>
          </a:xfrm>
          <a:prstGeom prst="rect">
            <a:avLst/>
          </a:prstGeom>
          <a:solidFill>
            <a:srgbClr val="2A9D65"/>
          </a:solidFill>
          <a:ln w="12700">
            <a:solidFill>
              <a:srgbClr val="2A9D65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5" name="Text 13"/>
          <p:cNvSpPr/>
          <p:nvPr/>
        </p:nvSpPr>
        <p:spPr>
          <a:xfrm>
            <a:off x="7772400" y="1664208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A9D6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3. ติดตามคู่แข่งรายร้าน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0" y="2212848"/>
            <a:ext cx="269748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บันทึกราคาคู่แข่ง เงื่อนไขเครดิต และเหตุผลที่ลูกค้าซื้อกับเจ้าเดิม เพื่อวางข้อเสนอเฉพาะร้าน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3730752"/>
            <a:ext cx="10104120" cy="18288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D6DEE7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18" name="Text 16"/>
          <p:cNvSpPr/>
          <p:nvPr/>
        </p:nvSpPr>
        <p:spPr>
          <a:xfrm>
            <a:off x="868680" y="400507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เป้าหมายการติดตาม 8 ร้าน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45262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ร้านที่มีคู่แข่งชัดเจน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246120" y="4526280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ทำราคาเปรียบเทียบ + จุดเด่นบริการส่ง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914400" y="483717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07008" y="4837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ร้านที่ยังคุยไม่ครบ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246120" y="4837176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นัดเวลาโทร/LINE เพื่อเก็บข้อมูลความต้องการ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914400" y="51480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07008" y="5148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7324D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ทุกร้าน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246120" y="5148072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dirty="0">
                <a:solidFill>
                  <a:srgbClr val="5E6A75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ขอคำสั่งซื้อทดลองอย่างน้อย 1 รายการ</a:t>
            </a:r>
            <a:endParaRPr lang="en-US" sz="1040" dirty="0"/>
          </a:p>
        </p:txBody>
      </p:sp>
      <p:sp>
        <p:nvSpPr>
          <p:cNvPr id="28" name="Shape 26"/>
          <p:cNvSpPr/>
          <p:nvPr/>
        </p:nvSpPr>
        <p:spPr>
          <a:xfrm>
            <a:off x="8503920" y="4160520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0E4E8C"/>
          </a:solidFill>
          <a:ln w="12700">
            <a:solidFill>
              <a:srgbClr val="0E4E8C"/>
            </a:solidFill>
            <a:prstDash val="solid"/>
          </a:ln>
        </p:spPr>
        <p:txBody>
          <a:bodyPr/>
          <a:lstStyle/>
          <a:p>
            <a:endParaRPr lang="th-TH"/>
          </a:p>
        </p:txBody>
      </p:sp>
      <p:sp>
        <p:nvSpPr>
          <p:cNvPr id="29" name="Text 27"/>
          <p:cNvSpPr/>
          <p:nvPr/>
        </p:nvSpPr>
        <p:spPr>
          <a:xfrm>
            <a:off x="8622792" y="4334256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เป้าหมาย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“ได้ First Order”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34840" y="5897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4E8C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ขอบคุณครับ</a:t>
            </a:r>
            <a:endParaRPr lang="en-US" sz="19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75120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1287</Words>
  <Application>Microsoft Office PowerPoint</Application>
  <PresentationFormat>Widescreen</PresentationFormat>
  <Paragraphs>275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Noto Sans Thai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บริษัท พัฒนาสิน ไทยเทรดดิ้ง จำกัด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รายงานการออกตลาดประจำเดือน สิงหาคม 2569 - ธงชัย คุยดี</dc:title>
  <dc:subject>รายงานการออกตลาดประจำเดือน สิงหาคม 2569</dc:subject>
  <dc:creator>OpenAI</dc:creator>
  <cp:lastModifiedBy>nuch nuch</cp:lastModifiedBy>
  <cp:revision>2</cp:revision>
  <dcterms:created xsi:type="dcterms:W3CDTF">2026-09-03T03:04:36Z</dcterms:created>
  <dcterms:modified xsi:type="dcterms:W3CDTF">2026-09-03T03:07:44Z</dcterms:modified>
</cp:coreProperties>
</file>